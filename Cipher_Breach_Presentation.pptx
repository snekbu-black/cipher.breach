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63" r:id="rId2"/>
    <p:sldId id="256" r:id="rId3"/>
    <p:sldId id="257" r:id="rId4"/>
    <p:sldId id="258" r:id="rId5"/>
    <p:sldId id="259" r:id="rId6"/>
    <p:sldId id="260" r:id="rId7"/>
    <p:sldId id="261" r:id="rId8"/>
    <p:sldId id="264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7FAFC"/>
    <a:srgbClr val="F1E05A"/>
    <a:srgbClr val="E34C26"/>
    <a:srgbClr val="1470DD"/>
    <a:srgbClr val="FF5050"/>
    <a:srgbClr val="663399"/>
    <a:srgbClr val="085688"/>
    <a:srgbClr val="74D221"/>
    <a:srgbClr val="EB311D"/>
    <a:srgbClr val="35E3F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4" d="100"/>
          <a:sy n="104" d="100"/>
        </p:scale>
        <p:origin x="114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  <a:scene3d>
                <a:camera prst="orthographicFront"/>
                <a:lightRig rig="brightRoom" dir="t"/>
              </a:scene3d>
              <a:sp3d prstMaterial="flat">
                <a:bevelT w="50800" h="101600" prst="angle"/>
                <a:contourClr>
                  <a:srgbClr val="00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2-A39E-4D23-ADA6-F9E881CFD037}"/>
              </c:ext>
            </c:extLst>
          </c:dPt>
          <c:dPt>
            <c:idx val="1"/>
            <c:bubble3D val="0"/>
            <c:spPr>
              <a:solidFill>
                <a:srgbClr val="E34C26"/>
              </a:solidFill>
              <a:ln>
                <a:noFill/>
              </a:ln>
              <a:effectLst/>
              <a:scene3d>
                <a:camera prst="orthographicFront"/>
                <a:lightRig rig="brightRoom" dir="t"/>
              </a:scene3d>
              <a:sp3d prstMaterial="flat">
                <a:bevelT w="50800" h="101600" prst="angle"/>
                <a:contourClr>
                  <a:srgbClr val="00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4-A39E-4D23-ADA6-F9E881CFD037}"/>
              </c:ext>
            </c:extLst>
          </c:dPt>
          <c:dPt>
            <c:idx val="2"/>
            <c:bubble3D val="0"/>
            <c:spPr>
              <a:solidFill>
                <a:srgbClr val="F1E05A"/>
              </a:solidFill>
              <a:ln>
                <a:noFill/>
              </a:ln>
              <a:effectLst/>
              <a:scene3d>
                <a:camera prst="orthographicFront"/>
                <a:lightRig rig="brightRoom" dir="t"/>
              </a:scene3d>
              <a:sp3d prstMaterial="flat">
                <a:bevelT w="50800" h="101600" prst="angle"/>
                <a:contourClr>
                  <a:srgbClr val="00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A39E-4D23-ADA6-F9E881CFD037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>
                <a:noFill/>
              </a:ln>
              <a:effectLst/>
              <a:scene3d>
                <a:camera prst="orthographicFront"/>
                <a:lightRig rig="brightRoom" dir="t"/>
              </a:scene3d>
              <a:sp3d prstMaterial="flat">
                <a:bevelT w="50800" h="101600" prst="angle"/>
                <a:contourClr>
                  <a:srgbClr val="000000"/>
                </a:contourClr>
              </a:sp3d>
            </c:spPr>
          </c:dPt>
          <c:dLbls>
            <c:dLbl>
              <c:idx val="0"/>
              <c:tx>
                <c:rich>
                  <a:bodyPr/>
                  <a:lstStyle/>
                  <a:p>
                    <a:fld id="{785213D9-5CEF-4BC5-9B2F-59526F7719C5}" type="PERCENTAGE">
                      <a:rPr lang="en-US">
                        <a:solidFill>
                          <a:schemeClr val="bg1">
                            <a:lumMod val="95000"/>
                          </a:schemeClr>
                        </a:solidFill>
                      </a:rPr>
                      <a:pPr/>
                      <a:t>[PERCENTAGE]</a:t>
                    </a:fld>
                    <a:endParaRPr lang="en-US"/>
                  </a:p>
                </c:rich>
              </c:tx>
              <c:dLblPos val="inEnd"/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2-A39E-4D23-ADA6-F9E881CFD037}"/>
                </c:ext>
              </c:extLst>
            </c:dLbl>
            <c:dLbl>
              <c:idx val="2"/>
              <c:layout>
                <c:manualLayout>
                  <c:x val="0.11570352494280922"/>
                  <c:y val="-0.27447412422690015"/>
                </c:manualLayout>
              </c:layout>
              <c:tx>
                <c:rich>
                  <a:bodyPr rot="0" spcFirstLastPara="1" vertOverflow="ellipsis" vert="horz" wrap="square" lIns="38100" tIns="19050" rIns="38100" bIns="19050" anchor="ctr" anchorCtr="1">
                    <a:spAutoFit/>
                  </a:bodyPr>
                  <a:lstStyle/>
                  <a:p>
                    <a:pPr>
                      <a:defRPr sz="1197" b="1" i="0" u="none" strike="noStrike" kern="1200" baseline="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fld id="{8E3E4ED5-9DE2-41DE-A2E8-302FC5556CFE}" type="PERCENTAGE">
                      <a:rPr lang="en-US">
                        <a:solidFill>
                          <a:schemeClr val="bg2">
                            <a:lumMod val="10000"/>
                          </a:schemeClr>
                        </a:solidFill>
                      </a:rPr>
                      <a:pPr>
                        <a:defRPr/>
                      </a:pPr>
                      <a:t>[PERCENTAGE]</a:t>
                    </a:fld>
                    <a:endParaRPr lang="en-US"/>
                  </a:p>
                </c:rich>
              </c:tx>
              <c:spPr>
                <a:noFill/>
                <a:ln>
                  <a:noFill/>
                </a:ln>
                <a:effectLst>
                  <a:glow rad="25400">
                    <a:schemeClr val="accent1">
                      <a:alpha val="40000"/>
                    </a:schemeClr>
                  </a:glow>
                </a:effectLst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197" b="1" i="0" u="none" strike="noStrike" kern="1200" baseline="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en-US"/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3-A39E-4D23-ADA6-F9E881CFD03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inEnd"/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3"/>
                <c:pt idx="0">
                  <c:v>CSS</c:v>
                </c:pt>
                <c:pt idx="1">
                  <c:v>HTML</c:v>
                </c:pt>
                <c:pt idx="2">
                  <c:v>JS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10.3</c:v>
                </c:pt>
                <c:pt idx="1">
                  <c:v>3.2</c:v>
                </c:pt>
                <c:pt idx="2">
                  <c:v>86.5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39E-4D23-ADA6-F9E881CFD037}"/>
            </c:ext>
          </c:extLst>
        </c:ser>
        <c:dLbls>
          <c:dLblPos val="inEnd"/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t"/>
      <c:legendEntry>
        <c:idx val="3"/>
        <c:delete val="1"/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lt1"/>
    </cs:fontRef>
    <cs:defRPr sz="1197" b="1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scene3d>
        <a:camera prst="orthographicFront"/>
        <a:lightRig rig="brightRoom" dir="t"/>
      </a:scene3d>
      <a:sp3d prstMaterial="flat">
        <a:bevelT w="50800" h="101600" prst="angle"/>
        <a:contourClr>
          <a:srgbClr val="000000"/>
        </a:contourClr>
      </a:sp3d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1905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1" i="0" kern="1200" cap="all" spc="5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515790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C5F27-CCFF-B06C-1DC2-3141E8C162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7E348A-5FE3-ACC3-8452-765DB17D33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BC0AD5-F1BA-BBE1-52FB-739EB46884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EBCF1F-C5A3-07D7-4861-26A7DEF5B9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6021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B40584-1668-CC6C-ABB3-794070BBF9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4D2A4D-8BBB-8D5D-DB31-161B5D4DF9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52439E-F509-7E1B-B07D-590DD3CB2B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BF250E-3AFA-A00B-D235-0C602233668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889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SE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D0E0"/>
          </a:solidFill>
          <a:ln w="12700">
            <a:solidFill>
              <a:srgbClr val="00D0E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40080" y="6446520"/>
            <a:ext cx="10881360" cy="0"/>
          </a:xfrm>
          <a:prstGeom prst="line">
            <a:avLst/>
          </a:prstGeom>
          <a:noFill/>
          <a:ln w="12700">
            <a:solidFill>
              <a:srgbClr val="DCE7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58368" y="6473952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C9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CIPHER.BREACH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7360920" y="6446520"/>
            <a:ext cx="4160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B7C9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Repo: github.com/SnekBu-Black/Cipher.Breach   |   Live: snekbu-black.github.io/Cipher.Breach/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13716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B8A9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13716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B8A9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0217E261-E24C-67A6-3557-0A33FEED0982}"/>
              </a:ext>
            </a:extLst>
          </p:cNvPr>
          <p:cNvCxnSpPr>
            <a:cxnSpLocks/>
          </p:cNvCxnSpPr>
          <p:nvPr userDrawn="1"/>
        </p:nvCxnSpPr>
        <p:spPr>
          <a:xfrm>
            <a:off x="0" y="915047"/>
            <a:ext cx="4553527" cy="0"/>
          </a:xfrm>
          <a:prstGeom prst="line">
            <a:avLst/>
          </a:prstGeom>
          <a:ln w="762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45BF9-6A83-BCFE-983D-0CAD6E4F9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D9D3DBFC-06B5-A21B-FB3A-CA1B3C175681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12880" y="13716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B8A9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</a:t>
            </a:fld>
            <a:endParaRPr lang="en-US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82B2E9B6-094F-713E-82CE-4DACD6B71C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3204" y="1135890"/>
            <a:ext cx="4943580" cy="3799835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sp>
        <p:nvSpPr>
          <p:cNvPr id="2" name="Shape 8">
            <a:extLst>
              <a:ext uri="{FF2B5EF4-FFF2-40B4-BE49-F238E27FC236}">
                <a16:creationId xmlns:a16="http://schemas.microsoft.com/office/drawing/2014/main" id="{95E27373-3EF8-1EF8-4421-E3C534B22393}"/>
              </a:ext>
            </a:extLst>
          </p:cNvPr>
          <p:cNvSpPr/>
          <p:nvPr/>
        </p:nvSpPr>
        <p:spPr>
          <a:xfrm>
            <a:off x="594360" y="2798064"/>
            <a:ext cx="5257800" cy="2633472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12700">
            <a:solidFill>
              <a:srgbClr val="DCE8EF"/>
            </a:solidFill>
            <a:prstDash val="solid"/>
          </a:ln>
          <a:effectLst>
            <a:outerShdw blurRad="12700" dist="50800" dir="2700000" algn="bl" rotWithShape="0">
              <a:srgbClr val="CFDDE5">
                <a:alpha val="18000"/>
              </a:srgbClr>
            </a:outerShdw>
          </a:effectLst>
        </p:spPr>
        <p:txBody>
          <a:bodyPr/>
          <a:lstStyle/>
          <a:p>
            <a:endParaRPr lang="en-US" sz="3200"/>
          </a:p>
        </p:txBody>
      </p:sp>
      <p:sp>
        <p:nvSpPr>
          <p:cNvPr id="20" name="Text 9">
            <a:extLst>
              <a:ext uri="{FF2B5EF4-FFF2-40B4-BE49-F238E27FC236}">
                <a16:creationId xmlns:a16="http://schemas.microsoft.com/office/drawing/2014/main" id="{F5423D78-3C43-7E24-C1EC-B49272EB4344}"/>
              </a:ext>
            </a:extLst>
          </p:cNvPr>
          <p:cNvSpPr/>
          <p:nvPr/>
        </p:nvSpPr>
        <p:spPr>
          <a:xfrm>
            <a:off x="813816" y="3035808"/>
            <a:ext cx="256032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FE8"/>
                </a:solidFill>
              </a:rPr>
              <a:t>PROJECT GROUP</a:t>
            </a:r>
            <a:endParaRPr lang="en-US" sz="1000" dirty="0"/>
          </a:p>
        </p:txBody>
      </p:sp>
      <p:sp>
        <p:nvSpPr>
          <p:cNvPr id="21" name="Shape 10">
            <a:extLst>
              <a:ext uri="{FF2B5EF4-FFF2-40B4-BE49-F238E27FC236}">
                <a16:creationId xmlns:a16="http://schemas.microsoft.com/office/drawing/2014/main" id="{6B376F65-021D-B3A5-0F91-E561C9B8AF55}"/>
              </a:ext>
            </a:extLst>
          </p:cNvPr>
          <p:cNvSpPr/>
          <p:nvPr/>
        </p:nvSpPr>
        <p:spPr>
          <a:xfrm>
            <a:off x="813816" y="3300984"/>
            <a:ext cx="4544568" cy="246888"/>
          </a:xfrm>
          <a:prstGeom prst="roundRect">
            <a:avLst>
              <a:gd name="adj" fmla="val 18519"/>
            </a:avLst>
          </a:prstGeom>
          <a:solidFill>
            <a:srgbClr val="F8FBFD"/>
          </a:solidFill>
          <a:ln w="12700">
            <a:solidFill>
              <a:srgbClr val="EDF4F7"/>
            </a:solidFill>
            <a:prstDash val="solid"/>
          </a:ln>
        </p:spPr>
        <p:txBody>
          <a:bodyPr/>
          <a:lstStyle/>
          <a:p>
            <a:endParaRPr lang="en-US" sz="3200" dirty="0"/>
          </a:p>
        </p:txBody>
      </p:sp>
      <p:sp>
        <p:nvSpPr>
          <p:cNvPr id="23" name="Text 11">
            <a:extLst>
              <a:ext uri="{FF2B5EF4-FFF2-40B4-BE49-F238E27FC236}">
                <a16:creationId xmlns:a16="http://schemas.microsoft.com/office/drawing/2014/main" id="{6904EA08-3056-FBA2-FEA6-5300C495AD2C}"/>
              </a:ext>
            </a:extLst>
          </p:cNvPr>
          <p:cNvSpPr/>
          <p:nvPr/>
        </p:nvSpPr>
        <p:spPr>
          <a:xfrm>
            <a:off x="960120" y="3328416"/>
            <a:ext cx="3063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2230"/>
                </a:solidFill>
              </a:rPr>
              <a:t>Abdullah Ali Alkhulaifi</a:t>
            </a:r>
            <a:endParaRPr lang="en-US" sz="1100" dirty="0"/>
          </a:p>
        </p:txBody>
      </p:sp>
      <p:sp>
        <p:nvSpPr>
          <p:cNvPr id="24" name="Text 12">
            <a:extLst>
              <a:ext uri="{FF2B5EF4-FFF2-40B4-BE49-F238E27FC236}">
                <a16:creationId xmlns:a16="http://schemas.microsoft.com/office/drawing/2014/main" id="{1893AC08-F753-D675-42D4-5EAF5D2D29BF}"/>
              </a:ext>
            </a:extLst>
          </p:cNvPr>
          <p:cNvSpPr/>
          <p:nvPr/>
        </p:nvSpPr>
        <p:spPr>
          <a:xfrm>
            <a:off x="4005072" y="3328416"/>
            <a:ext cx="11704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36879"/>
                </a:solidFill>
              </a:rPr>
              <a:t>223002824</a:t>
            </a:r>
            <a:endParaRPr lang="en-US" sz="1100" dirty="0"/>
          </a:p>
        </p:txBody>
      </p:sp>
      <p:sp>
        <p:nvSpPr>
          <p:cNvPr id="26" name="Shape 13">
            <a:extLst>
              <a:ext uri="{FF2B5EF4-FFF2-40B4-BE49-F238E27FC236}">
                <a16:creationId xmlns:a16="http://schemas.microsoft.com/office/drawing/2014/main" id="{3DDDC615-C261-058E-6E5C-E68A82D22172}"/>
              </a:ext>
            </a:extLst>
          </p:cNvPr>
          <p:cNvSpPr/>
          <p:nvPr/>
        </p:nvSpPr>
        <p:spPr>
          <a:xfrm>
            <a:off x="813816" y="3657600"/>
            <a:ext cx="4544568" cy="246888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2700">
            <a:solidFill>
              <a:srgbClr val="EDF4F7"/>
            </a:solidFill>
            <a:prstDash val="solid"/>
          </a:ln>
        </p:spPr>
        <p:txBody>
          <a:bodyPr/>
          <a:lstStyle/>
          <a:p>
            <a:endParaRPr lang="en-US" sz="3200"/>
          </a:p>
        </p:txBody>
      </p:sp>
      <p:sp>
        <p:nvSpPr>
          <p:cNvPr id="27" name="Text 14">
            <a:extLst>
              <a:ext uri="{FF2B5EF4-FFF2-40B4-BE49-F238E27FC236}">
                <a16:creationId xmlns:a16="http://schemas.microsoft.com/office/drawing/2014/main" id="{7AA80F91-3E93-0525-92E1-A29E51060E1D}"/>
              </a:ext>
            </a:extLst>
          </p:cNvPr>
          <p:cNvSpPr/>
          <p:nvPr/>
        </p:nvSpPr>
        <p:spPr>
          <a:xfrm>
            <a:off x="960120" y="3685032"/>
            <a:ext cx="3063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2230"/>
                </a:solidFill>
              </a:rPr>
              <a:t>Bashar Ibrahim Farhat</a:t>
            </a:r>
            <a:endParaRPr lang="en-US" sz="1100" dirty="0"/>
          </a:p>
        </p:txBody>
      </p:sp>
      <p:sp>
        <p:nvSpPr>
          <p:cNvPr id="28" name="Text 15">
            <a:extLst>
              <a:ext uri="{FF2B5EF4-FFF2-40B4-BE49-F238E27FC236}">
                <a16:creationId xmlns:a16="http://schemas.microsoft.com/office/drawing/2014/main" id="{0A6478AC-C1D9-20CB-FDA1-9F0A8BEF7349}"/>
              </a:ext>
            </a:extLst>
          </p:cNvPr>
          <p:cNvSpPr/>
          <p:nvPr/>
        </p:nvSpPr>
        <p:spPr>
          <a:xfrm>
            <a:off x="4005072" y="3685032"/>
            <a:ext cx="11704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36879"/>
                </a:solidFill>
              </a:rPr>
              <a:t>223039656</a:t>
            </a:r>
            <a:endParaRPr lang="en-US" sz="1100" dirty="0"/>
          </a:p>
        </p:txBody>
      </p:sp>
      <p:sp>
        <p:nvSpPr>
          <p:cNvPr id="29" name="Shape 16">
            <a:extLst>
              <a:ext uri="{FF2B5EF4-FFF2-40B4-BE49-F238E27FC236}">
                <a16:creationId xmlns:a16="http://schemas.microsoft.com/office/drawing/2014/main" id="{CCAFCCB1-353D-22BE-73B0-7B6D14B2F985}"/>
              </a:ext>
            </a:extLst>
          </p:cNvPr>
          <p:cNvSpPr/>
          <p:nvPr/>
        </p:nvSpPr>
        <p:spPr>
          <a:xfrm>
            <a:off x="813816" y="4014216"/>
            <a:ext cx="4544568" cy="246888"/>
          </a:xfrm>
          <a:prstGeom prst="roundRect">
            <a:avLst>
              <a:gd name="adj" fmla="val 18519"/>
            </a:avLst>
          </a:prstGeom>
          <a:solidFill>
            <a:srgbClr val="F8FBFD"/>
          </a:solidFill>
          <a:ln w="12700">
            <a:solidFill>
              <a:srgbClr val="EDF4F7"/>
            </a:solidFill>
            <a:prstDash val="solid"/>
          </a:ln>
        </p:spPr>
        <p:txBody>
          <a:bodyPr/>
          <a:lstStyle/>
          <a:p>
            <a:endParaRPr lang="en-US" sz="3200"/>
          </a:p>
        </p:txBody>
      </p:sp>
      <p:sp>
        <p:nvSpPr>
          <p:cNvPr id="30" name="Text 17">
            <a:extLst>
              <a:ext uri="{FF2B5EF4-FFF2-40B4-BE49-F238E27FC236}">
                <a16:creationId xmlns:a16="http://schemas.microsoft.com/office/drawing/2014/main" id="{946110AE-A454-19C4-A1D6-7A55D4068BE8}"/>
              </a:ext>
            </a:extLst>
          </p:cNvPr>
          <p:cNvSpPr/>
          <p:nvPr/>
        </p:nvSpPr>
        <p:spPr>
          <a:xfrm>
            <a:off x="960120" y="4041648"/>
            <a:ext cx="3063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2230"/>
                </a:solidFill>
              </a:rPr>
              <a:t>Ayed Ahmed Almutairi</a:t>
            </a:r>
            <a:endParaRPr lang="en-US" sz="1100" dirty="0"/>
          </a:p>
        </p:txBody>
      </p:sp>
      <p:sp>
        <p:nvSpPr>
          <p:cNvPr id="31" name="Text 18">
            <a:extLst>
              <a:ext uri="{FF2B5EF4-FFF2-40B4-BE49-F238E27FC236}">
                <a16:creationId xmlns:a16="http://schemas.microsoft.com/office/drawing/2014/main" id="{9E31F81B-C850-D292-E9B0-6ECD9B87E815}"/>
              </a:ext>
            </a:extLst>
          </p:cNvPr>
          <p:cNvSpPr/>
          <p:nvPr/>
        </p:nvSpPr>
        <p:spPr>
          <a:xfrm>
            <a:off x="4005072" y="4041648"/>
            <a:ext cx="11704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36879"/>
                </a:solidFill>
              </a:rPr>
              <a:t>223041875</a:t>
            </a:r>
            <a:endParaRPr lang="en-US" sz="1100" dirty="0"/>
          </a:p>
        </p:txBody>
      </p:sp>
      <p:sp>
        <p:nvSpPr>
          <p:cNvPr id="32" name="Shape 19">
            <a:extLst>
              <a:ext uri="{FF2B5EF4-FFF2-40B4-BE49-F238E27FC236}">
                <a16:creationId xmlns:a16="http://schemas.microsoft.com/office/drawing/2014/main" id="{AA9AF4F8-0DA9-4494-12D1-1BA82D550581}"/>
              </a:ext>
            </a:extLst>
          </p:cNvPr>
          <p:cNvSpPr/>
          <p:nvPr/>
        </p:nvSpPr>
        <p:spPr>
          <a:xfrm>
            <a:off x="813816" y="4370832"/>
            <a:ext cx="4544568" cy="246888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2700">
            <a:solidFill>
              <a:srgbClr val="EDF4F7"/>
            </a:solidFill>
            <a:prstDash val="solid"/>
          </a:ln>
        </p:spPr>
        <p:txBody>
          <a:bodyPr/>
          <a:lstStyle/>
          <a:p>
            <a:endParaRPr lang="en-US" sz="3200"/>
          </a:p>
        </p:txBody>
      </p:sp>
      <p:sp>
        <p:nvSpPr>
          <p:cNvPr id="33" name="Text 20">
            <a:extLst>
              <a:ext uri="{FF2B5EF4-FFF2-40B4-BE49-F238E27FC236}">
                <a16:creationId xmlns:a16="http://schemas.microsoft.com/office/drawing/2014/main" id="{6C4DAC92-7EB9-9807-E2DA-BDB077C092E3}"/>
              </a:ext>
            </a:extLst>
          </p:cNvPr>
          <p:cNvSpPr/>
          <p:nvPr/>
        </p:nvSpPr>
        <p:spPr>
          <a:xfrm>
            <a:off x="960120" y="4398264"/>
            <a:ext cx="3063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2230"/>
                </a:solidFill>
              </a:rPr>
              <a:t>Abdulelah Adel Alhinity</a:t>
            </a:r>
            <a:endParaRPr lang="en-US" sz="1100" dirty="0"/>
          </a:p>
        </p:txBody>
      </p:sp>
      <p:sp>
        <p:nvSpPr>
          <p:cNvPr id="34" name="Text 21">
            <a:extLst>
              <a:ext uri="{FF2B5EF4-FFF2-40B4-BE49-F238E27FC236}">
                <a16:creationId xmlns:a16="http://schemas.microsoft.com/office/drawing/2014/main" id="{ED0DEF8A-EBFD-97DE-7EAD-2C2E0A3153C8}"/>
              </a:ext>
            </a:extLst>
          </p:cNvPr>
          <p:cNvSpPr/>
          <p:nvPr/>
        </p:nvSpPr>
        <p:spPr>
          <a:xfrm>
            <a:off x="4005072" y="4398264"/>
            <a:ext cx="11704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36879"/>
                </a:solidFill>
              </a:rPr>
              <a:t>223023047</a:t>
            </a:r>
            <a:endParaRPr lang="en-US" sz="1100" dirty="0"/>
          </a:p>
        </p:txBody>
      </p:sp>
      <p:sp>
        <p:nvSpPr>
          <p:cNvPr id="35" name="Shape 22">
            <a:extLst>
              <a:ext uri="{FF2B5EF4-FFF2-40B4-BE49-F238E27FC236}">
                <a16:creationId xmlns:a16="http://schemas.microsoft.com/office/drawing/2014/main" id="{98EA44BD-B2B3-921A-988D-7D72BBE222A8}"/>
              </a:ext>
            </a:extLst>
          </p:cNvPr>
          <p:cNvSpPr/>
          <p:nvPr/>
        </p:nvSpPr>
        <p:spPr>
          <a:xfrm>
            <a:off x="813816" y="4727448"/>
            <a:ext cx="4544568" cy="246888"/>
          </a:xfrm>
          <a:prstGeom prst="roundRect">
            <a:avLst>
              <a:gd name="adj" fmla="val 18519"/>
            </a:avLst>
          </a:prstGeom>
          <a:solidFill>
            <a:srgbClr val="F8FBFD"/>
          </a:solidFill>
          <a:ln w="12700">
            <a:solidFill>
              <a:srgbClr val="EDF4F7"/>
            </a:solidFill>
            <a:prstDash val="solid"/>
          </a:ln>
        </p:spPr>
        <p:txBody>
          <a:bodyPr/>
          <a:lstStyle/>
          <a:p>
            <a:endParaRPr lang="en-US" sz="3200"/>
          </a:p>
        </p:txBody>
      </p:sp>
      <p:sp>
        <p:nvSpPr>
          <p:cNvPr id="36" name="Text 23">
            <a:extLst>
              <a:ext uri="{FF2B5EF4-FFF2-40B4-BE49-F238E27FC236}">
                <a16:creationId xmlns:a16="http://schemas.microsoft.com/office/drawing/2014/main" id="{1AE4103F-824A-ADD3-130B-1C2C8B5931D4}"/>
              </a:ext>
            </a:extLst>
          </p:cNvPr>
          <p:cNvSpPr/>
          <p:nvPr/>
        </p:nvSpPr>
        <p:spPr>
          <a:xfrm>
            <a:off x="960120" y="4754880"/>
            <a:ext cx="3063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2230"/>
                </a:solidFill>
              </a:rPr>
              <a:t>Ahmed Amer Abdulmalik</a:t>
            </a:r>
            <a:endParaRPr lang="en-US" sz="1100" dirty="0"/>
          </a:p>
        </p:txBody>
      </p:sp>
      <p:sp>
        <p:nvSpPr>
          <p:cNvPr id="37" name="Text 24">
            <a:extLst>
              <a:ext uri="{FF2B5EF4-FFF2-40B4-BE49-F238E27FC236}">
                <a16:creationId xmlns:a16="http://schemas.microsoft.com/office/drawing/2014/main" id="{62BE0A89-7983-3BFB-2879-F4C392100CE1}"/>
              </a:ext>
            </a:extLst>
          </p:cNvPr>
          <p:cNvSpPr/>
          <p:nvPr/>
        </p:nvSpPr>
        <p:spPr>
          <a:xfrm>
            <a:off x="4005072" y="4754880"/>
            <a:ext cx="11704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36879"/>
                </a:solidFill>
              </a:rPr>
              <a:t>223049879</a:t>
            </a:r>
            <a:endParaRPr lang="en-US" sz="1100" dirty="0"/>
          </a:p>
        </p:txBody>
      </p:sp>
      <p:sp>
        <p:nvSpPr>
          <p:cNvPr id="38" name="Text 3">
            <a:extLst>
              <a:ext uri="{FF2B5EF4-FFF2-40B4-BE49-F238E27FC236}">
                <a16:creationId xmlns:a16="http://schemas.microsoft.com/office/drawing/2014/main" id="{778A24BE-9E35-2793-404D-ADA3C8AFF4F0}"/>
              </a:ext>
            </a:extLst>
          </p:cNvPr>
          <p:cNvSpPr/>
          <p:nvPr/>
        </p:nvSpPr>
        <p:spPr>
          <a:xfrm>
            <a:off x="585216" y="5728716"/>
            <a:ext cx="275613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536879"/>
                </a:solidFill>
              </a:rPr>
              <a:t>Kingdom of Saudi Arabia  |  Ministry of Education</a:t>
            </a:r>
            <a:endParaRPr lang="en-US" sz="820" dirty="0"/>
          </a:p>
          <a:p>
            <a:pPr marL="0" indent="0">
              <a:buNone/>
            </a:pPr>
            <a:r>
              <a:rPr lang="en-US" sz="820" dirty="0">
                <a:solidFill>
                  <a:srgbClr val="536879"/>
                </a:solidFill>
              </a:rPr>
              <a:t>King Faisal University</a:t>
            </a:r>
            <a:endParaRPr lang="en-US" sz="820" dirty="0"/>
          </a:p>
          <a:p>
            <a:pPr marL="0" indent="0">
              <a:buNone/>
            </a:pPr>
            <a:r>
              <a:rPr lang="en-US" sz="820" dirty="0">
                <a:solidFill>
                  <a:srgbClr val="536879"/>
                </a:solidFill>
              </a:rPr>
              <a:t>College of Computer Sciences &amp; Information Technology</a:t>
            </a:r>
            <a:endParaRPr lang="en-US" sz="820" dirty="0"/>
          </a:p>
        </p:txBody>
      </p:sp>
      <p:sp>
        <p:nvSpPr>
          <p:cNvPr id="39" name="Text 4">
            <a:extLst>
              <a:ext uri="{FF2B5EF4-FFF2-40B4-BE49-F238E27FC236}">
                <a16:creationId xmlns:a16="http://schemas.microsoft.com/office/drawing/2014/main" id="{A3530446-89DF-8D67-AC41-C902CB1D7A2B}"/>
              </a:ext>
            </a:extLst>
          </p:cNvPr>
          <p:cNvSpPr/>
          <p:nvPr/>
        </p:nvSpPr>
        <p:spPr>
          <a:xfrm>
            <a:off x="434340" y="502920"/>
            <a:ext cx="2756131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E22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CIPHER.BREACH</a:t>
            </a:r>
            <a:endParaRPr lang="en-US" sz="2800" dirty="0"/>
          </a:p>
        </p:txBody>
      </p:sp>
      <p:sp>
        <p:nvSpPr>
          <p:cNvPr id="40" name="Text 5">
            <a:extLst>
              <a:ext uri="{FF2B5EF4-FFF2-40B4-BE49-F238E27FC236}">
                <a16:creationId xmlns:a16="http://schemas.microsoft.com/office/drawing/2014/main" id="{2892BFD3-349B-4DE3-151B-A80182C4D87D}"/>
              </a:ext>
            </a:extLst>
          </p:cNvPr>
          <p:cNvSpPr/>
          <p:nvPr/>
        </p:nvSpPr>
        <p:spPr>
          <a:xfrm>
            <a:off x="585216" y="1755648"/>
            <a:ext cx="43891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CFE8"/>
                </a:solidFill>
              </a:rPr>
              <a:t>A 3D Cryptography Game</a:t>
            </a:r>
            <a:endParaRPr lang="en-US" sz="1600" dirty="0"/>
          </a:p>
        </p:txBody>
      </p:sp>
      <p:sp>
        <p:nvSpPr>
          <p:cNvPr id="41" name="Text 6">
            <a:extLst>
              <a:ext uri="{FF2B5EF4-FFF2-40B4-BE49-F238E27FC236}">
                <a16:creationId xmlns:a16="http://schemas.microsoft.com/office/drawing/2014/main" id="{5F8208B1-5F8E-57AB-043E-C36F637EFA37}"/>
              </a:ext>
            </a:extLst>
          </p:cNvPr>
          <p:cNvSpPr/>
          <p:nvPr/>
        </p:nvSpPr>
        <p:spPr>
          <a:xfrm>
            <a:off x="594360" y="212140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2230"/>
                </a:solidFill>
              </a:rPr>
              <a:t>CS320 Computer Security</a:t>
            </a:r>
            <a:endParaRPr lang="en-US" sz="1200" dirty="0"/>
          </a:p>
        </p:txBody>
      </p:sp>
      <p:sp>
        <p:nvSpPr>
          <p:cNvPr id="42" name="Text 7">
            <a:extLst>
              <a:ext uri="{FF2B5EF4-FFF2-40B4-BE49-F238E27FC236}">
                <a16:creationId xmlns:a16="http://schemas.microsoft.com/office/drawing/2014/main" id="{DF1B97DB-7852-5637-D866-7B424869C04E}"/>
              </a:ext>
            </a:extLst>
          </p:cNvPr>
          <p:cNvSpPr/>
          <p:nvPr/>
        </p:nvSpPr>
        <p:spPr>
          <a:xfrm>
            <a:off x="594360" y="235915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36879"/>
                </a:solidFill>
              </a:rPr>
              <a:t>Supervised by Dr. Abdullah Albuali</a:t>
            </a:r>
          </a:p>
          <a:p>
            <a:pPr marL="0" indent="0">
              <a:buNone/>
            </a:pPr>
            <a:r>
              <a:rPr lang="en-US" sz="1050" dirty="0"/>
              <a:t>Date: May 2026</a:t>
            </a:r>
          </a:p>
        </p:txBody>
      </p:sp>
    </p:spTree>
    <p:extLst>
      <p:ext uri="{BB962C8B-B14F-4D97-AF65-F5344CB8AC3E}">
        <p14:creationId xmlns:p14="http://schemas.microsoft.com/office/powerpoint/2010/main" val="9845923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13232" y="360819"/>
            <a:ext cx="35632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22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is CIPHER.BREACH?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749808" y="1664208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latin typeface="Aptos" pitchFamily="34" charset="0"/>
                <a:ea typeface="Aptos" pitchFamily="34" charset="-122"/>
                <a:cs typeface="Aptos" pitchFamily="34" charset="-120"/>
              </a:rPr>
              <a:t>A 3D browser game that turns classical ciphers into a cybersecurity escape mission.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749808" y="2514600"/>
            <a:ext cx="898518" cy="0"/>
          </a:xfrm>
          <a:prstGeom prst="line">
            <a:avLst/>
          </a:prstGeom>
          <a:noFill/>
          <a:ln w="12700">
            <a:solidFill>
              <a:srgbClr val="00C7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749808" y="267919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0F2233"/>
                </a:solidFill>
                <a:latin typeface="Aptos Display" pitchFamily="34" charset="0"/>
              </a:rPr>
              <a:t>Design Philosophy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49808" y="2679192"/>
            <a:ext cx="5822442" cy="2045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Aptos" pitchFamily="34" charset="0"/>
              </a:rPr>
              <a:t>Teach security through interaction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Aptos" pitchFamily="34" charset="0"/>
              </a:rPr>
              <a:t>Cyber visual style, clean UI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Aptos" pitchFamily="34" charset="0"/>
              </a:rPr>
              <a:t>Simple controls: move, solve, escape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Aptos" pitchFamily="34" charset="0"/>
              </a:rPr>
              <a:t>Small project that feels complete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Aptos" pitchFamily="34" charset="0"/>
                <a:ea typeface="Aptos" pitchFamily="34" charset="-122"/>
                <a:cs typeface="Aptos" pitchFamily="34" charset="-120"/>
              </a:rPr>
              <a:t>Escape a hostile digital network by decrypting ciphers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754380" y="4521708"/>
            <a:ext cx="1261872" cy="713232"/>
          </a:xfrm>
          <a:prstGeom prst="roundRect">
            <a:avLst>
              <a:gd name="adj" fmla="val 10256"/>
            </a:avLst>
          </a:prstGeom>
          <a:solidFill>
            <a:srgbClr val="F2FCFE"/>
          </a:solidFill>
          <a:ln w="12700">
            <a:solidFill>
              <a:srgbClr val="C3EE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64108" y="4585716"/>
            <a:ext cx="1042416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53657A"/>
                </a:solidFill>
              </a:rPr>
              <a:t>ROOMS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827532" y="4786884"/>
            <a:ext cx="11155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F2233"/>
                </a:solidFill>
              </a:rPr>
              <a:t>6 + 1 hidden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2153412" y="4521708"/>
            <a:ext cx="1261872" cy="713232"/>
          </a:xfrm>
          <a:prstGeom prst="roundRect">
            <a:avLst>
              <a:gd name="adj" fmla="val 10256"/>
            </a:avLst>
          </a:prstGeom>
          <a:solidFill>
            <a:srgbClr val="F2FCFE"/>
          </a:solidFill>
          <a:ln w="12700">
            <a:solidFill>
              <a:srgbClr val="C3EE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2263140" y="4585716"/>
            <a:ext cx="1042416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53657A"/>
                </a:solidFill>
              </a:rPr>
              <a:t>LANGUAGES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226564" y="4786884"/>
            <a:ext cx="11155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F2233"/>
                </a:solidFill>
              </a:rPr>
              <a:t>AR / EN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3552444" y="4521708"/>
            <a:ext cx="1261872" cy="713232"/>
          </a:xfrm>
          <a:prstGeom prst="roundRect">
            <a:avLst>
              <a:gd name="adj" fmla="val 10256"/>
            </a:avLst>
          </a:prstGeom>
          <a:solidFill>
            <a:srgbClr val="F2FCFE"/>
          </a:solidFill>
          <a:ln w="12700">
            <a:solidFill>
              <a:srgbClr val="C3EE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3662172" y="4585716"/>
            <a:ext cx="1042416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53657A"/>
                </a:solidFill>
              </a:rPr>
              <a:t>PLATFORMS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3625596" y="4786884"/>
            <a:ext cx="11155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F2233"/>
                </a:solidFill>
              </a:rPr>
              <a:t>Desktop + mobile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4951476" y="4521708"/>
            <a:ext cx="1261872" cy="713232"/>
          </a:xfrm>
          <a:prstGeom prst="roundRect">
            <a:avLst>
              <a:gd name="adj" fmla="val 10256"/>
            </a:avLst>
          </a:prstGeom>
          <a:solidFill>
            <a:srgbClr val="F2FCFE"/>
          </a:solidFill>
          <a:ln w="12700">
            <a:solidFill>
              <a:srgbClr val="C3EE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5061204" y="4585716"/>
            <a:ext cx="1042416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53657A"/>
                </a:solidFill>
              </a:rPr>
              <a:t>STACK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5024628" y="4786884"/>
            <a:ext cx="11155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F2233"/>
                </a:solidFill>
              </a:rPr>
              <a:t>HTML / CSS / JS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13716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B8A9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B8AE5D0-8F11-A934-8A3B-E44EAB6D72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7139" y="1902514"/>
            <a:ext cx="4455741" cy="255061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30247" y="424233"/>
            <a:ext cx="29077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22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gameplay loop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749808" y="1871429"/>
            <a:ext cx="4754880" cy="2508065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342900" indent="-342900">
              <a:buChar char="•"/>
            </a:pPr>
            <a:r>
              <a:rPr lang="en-US" sz="1600" dirty="0">
                <a:solidFill>
                  <a:srgbClr val="0F2233"/>
                </a:solidFill>
                <a:latin typeface="Aptos" pitchFamily="34" charset="0"/>
              </a:rPr>
              <a:t>Start each room at spawn node</a:t>
            </a:r>
          </a:p>
          <a:p>
            <a:pPr marL="342900" indent="-342900">
              <a:buChar char="•"/>
            </a:pPr>
            <a:r>
              <a:rPr lang="en-US" sz="1600" dirty="0">
                <a:solidFill>
                  <a:srgbClr val="0F2233"/>
                </a:solidFill>
                <a:latin typeface="Aptos" pitchFamily="34" charset="0"/>
              </a:rPr>
              <a:t>Find and reach the keyholder</a:t>
            </a:r>
          </a:p>
          <a:p>
            <a:pPr marL="342900" indent="-342900">
              <a:buChar char="•"/>
            </a:pPr>
            <a:r>
              <a:rPr lang="en-US" sz="1600" dirty="0">
                <a:solidFill>
                  <a:srgbClr val="0F2233"/>
                </a:solidFill>
                <a:latin typeface="Aptos" pitchFamily="34" charset="0"/>
              </a:rPr>
              <a:t>Daemons patrol, detect, then chase</a:t>
            </a:r>
          </a:p>
          <a:p>
            <a:pPr marL="342900" indent="-342900">
              <a:buChar char="•"/>
            </a:pPr>
            <a:r>
              <a:rPr lang="en-US" sz="1600" dirty="0">
                <a:solidFill>
                  <a:srgbClr val="0F2233"/>
                </a:solidFill>
                <a:latin typeface="Aptos" pitchFamily="34" charset="0"/>
              </a:rPr>
              <a:t>Caught by daemon = cipher battle</a:t>
            </a:r>
          </a:p>
          <a:p>
            <a:pPr marL="342900" indent="-342900">
              <a:buChar char="•"/>
            </a:pPr>
            <a:r>
              <a:rPr lang="en-US" sz="1600" dirty="0">
                <a:solidFill>
                  <a:srgbClr val="0F2233"/>
                </a:solidFill>
                <a:latin typeface="Aptos" pitchFamily="34" charset="0"/>
              </a:rPr>
              <a:t>Solve puzzle to secure exit key</a:t>
            </a:r>
          </a:p>
          <a:p>
            <a:pPr marL="342900" indent="-342900">
              <a:buChar char="•"/>
            </a:pPr>
            <a:r>
              <a:rPr lang="en-US" sz="1600" dirty="0">
                <a:solidFill>
                  <a:srgbClr val="0F2233"/>
                </a:solidFill>
                <a:latin typeface="Aptos" pitchFamily="34" charset="0"/>
              </a:rPr>
              <a:t>Hints cost HP, guessing isn't free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1020519" y="4379494"/>
            <a:ext cx="1325880" cy="658368"/>
          </a:xfrm>
          <a:prstGeom prst="roundRect">
            <a:avLst>
              <a:gd name="adj" fmla="val 11111"/>
            </a:avLst>
          </a:prstGeom>
          <a:solidFill>
            <a:schemeClr val="accent5">
              <a:lumMod val="20000"/>
              <a:lumOff val="80000"/>
            </a:schemeClr>
          </a:solidFill>
          <a:ln w="12700">
            <a:solidFill>
              <a:schemeClr val="accent5">
                <a:lumMod val="40000"/>
                <a:lumOff val="60000"/>
              </a:scheme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1130247" y="4443502"/>
            <a:ext cx="1106424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53657A"/>
                </a:solidFill>
              </a:rPr>
              <a:t>Daemon Types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093671" y="4644670"/>
            <a:ext cx="11795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chemeClr val="accent4"/>
                </a:solidFill>
              </a:rPr>
              <a:t>Rook</a:t>
            </a:r>
            <a:r>
              <a:rPr lang="en-US" sz="1350" b="1" dirty="0">
                <a:solidFill>
                  <a:srgbClr val="E95563"/>
                </a:solidFill>
              </a:rPr>
              <a:t> </a:t>
            </a:r>
            <a:r>
              <a:rPr lang="en-US" sz="1350" b="1" dirty="0">
                <a:solidFill>
                  <a:srgbClr val="FF5050"/>
                </a:solidFill>
              </a:rPr>
              <a:t>&amp;</a:t>
            </a:r>
            <a:r>
              <a:rPr lang="en-US" sz="1350" b="1" dirty="0">
                <a:solidFill>
                  <a:srgbClr val="E95563"/>
                </a:solidFill>
              </a:rPr>
              <a:t> </a:t>
            </a:r>
            <a:r>
              <a:rPr lang="en-US" sz="1350" b="1" dirty="0">
                <a:solidFill>
                  <a:schemeClr val="accent1"/>
                </a:solidFill>
              </a:rPr>
              <a:t>Bishop</a:t>
            </a:r>
            <a:endParaRPr lang="en-US" sz="1350" dirty="0">
              <a:solidFill>
                <a:schemeClr val="accent1"/>
              </a:solidFill>
            </a:endParaRPr>
          </a:p>
        </p:txBody>
      </p:sp>
      <p:sp>
        <p:nvSpPr>
          <p:cNvPr id="9" name="Shape 6"/>
          <p:cNvSpPr/>
          <p:nvPr/>
        </p:nvSpPr>
        <p:spPr>
          <a:xfrm>
            <a:off x="2492703" y="4379494"/>
            <a:ext cx="1325880" cy="658368"/>
          </a:xfrm>
          <a:prstGeom prst="roundRect">
            <a:avLst>
              <a:gd name="adj" fmla="val 11111"/>
            </a:avLst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accent6">
                <a:lumMod val="60000"/>
                <a:lumOff val="40000"/>
              </a:scheme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2602431" y="4443502"/>
            <a:ext cx="1106424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53657A"/>
                </a:solidFill>
              </a:rPr>
              <a:t>Med kit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2565855" y="4644670"/>
            <a:ext cx="11795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5050"/>
                </a:solidFill>
              </a:rPr>
              <a:t>+5 Health</a:t>
            </a:r>
            <a:endParaRPr lang="en-US" sz="1350" dirty="0">
              <a:solidFill>
                <a:srgbClr val="FF5050"/>
              </a:solidFill>
            </a:endParaRPr>
          </a:p>
        </p:txBody>
      </p:sp>
      <p:sp>
        <p:nvSpPr>
          <p:cNvPr id="12" name="Shape 9"/>
          <p:cNvSpPr/>
          <p:nvPr/>
        </p:nvSpPr>
        <p:spPr>
          <a:xfrm>
            <a:off x="3964887" y="4379494"/>
            <a:ext cx="1325880" cy="658368"/>
          </a:xfrm>
          <a:prstGeom prst="roundRect">
            <a:avLst>
              <a:gd name="adj" fmla="val 11111"/>
            </a:avLst>
          </a:prstGeom>
          <a:solidFill>
            <a:srgbClr val="F4FBFF"/>
          </a:solidFill>
          <a:ln w="12700">
            <a:solidFill>
              <a:srgbClr val="C6EA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4074615" y="4443502"/>
            <a:ext cx="1106424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53657A"/>
                </a:solidFill>
              </a:rPr>
              <a:t>Hints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4038039" y="4530370"/>
            <a:ext cx="117957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0C7D9"/>
                </a:solidFill>
              </a:rPr>
              <a:t>-2 Health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13716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B8A9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EECF2CF3-D33E-08DF-76B1-DB3FE5D820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607605"/>
            <a:ext cx="6214751" cy="3558755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11480"/>
            <a:ext cx="6583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22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Cipher room progression</a:t>
            </a:r>
            <a:endParaRPr lang="en-US" sz="2400" dirty="0"/>
          </a:p>
        </p:txBody>
      </p:sp>
      <p:pic>
        <p:nvPicPr>
          <p:cNvPr id="4" name="Image 0" descr="/mnt/data/wide_clean_white_background_minimalist_infographi_batch_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1736" y="586614"/>
            <a:ext cx="4072890" cy="2292218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36195" dist="12700" dir="11400000" algn="tl" rotWithShape="0">
              <a:srgbClr val="000000">
                <a:alpha val="33000"/>
              </a:srgbClr>
            </a:outerShdw>
          </a:effectLst>
          <a:scene3d>
            <a:camera prst="perspectiveContrastingLeftFacing">
              <a:rot lat="540000" lon="2100000" rev="0"/>
            </a:camera>
            <a:lightRig rig="soft" dir="t"/>
          </a:scene3d>
          <a:sp3d contourW="12700" prstMaterial="matte">
            <a:bevelT w="63500" h="50800"/>
            <a:contourClr>
              <a:srgbClr val="C0C0C0"/>
            </a:contourClr>
          </a:sp3d>
        </p:spPr>
      </p:pic>
      <p:sp>
        <p:nvSpPr>
          <p:cNvPr id="5" name="Shape 2"/>
          <p:cNvSpPr/>
          <p:nvPr/>
        </p:nvSpPr>
        <p:spPr>
          <a:xfrm>
            <a:off x="713232" y="1417320"/>
            <a:ext cx="5303520" cy="4206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CF3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6" name="Shape 3"/>
          <p:cNvSpPr/>
          <p:nvPr/>
        </p:nvSpPr>
        <p:spPr>
          <a:xfrm>
            <a:off x="758952" y="1472184"/>
            <a:ext cx="475488" cy="310896"/>
          </a:xfrm>
          <a:prstGeom prst="roundRect">
            <a:avLst/>
          </a:prstGeom>
          <a:solidFill>
            <a:srgbClr val="085688"/>
          </a:solidFill>
          <a:ln w="12700">
            <a:solidFill>
              <a:srgbClr val="22B8C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7" name="Text 4"/>
          <p:cNvSpPr/>
          <p:nvPr/>
        </p:nvSpPr>
        <p:spPr>
          <a:xfrm>
            <a:off x="758952" y="1522476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371600" y="1499616"/>
            <a:ext cx="2240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233"/>
                </a:solidFill>
              </a:rPr>
              <a:t>Cipher Relay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371600" y="1650492"/>
            <a:ext cx="22402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3657A"/>
                </a:solidFill>
              </a:rPr>
              <a:t>Cryptography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160520" y="1517904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085688"/>
                </a:solidFill>
              </a:rPr>
              <a:t>Caesar cipher</a:t>
            </a:r>
            <a:endParaRPr lang="en-US" sz="1400" dirty="0">
              <a:solidFill>
                <a:srgbClr val="085688"/>
              </a:solidFill>
            </a:endParaRPr>
          </a:p>
        </p:txBody>
      </p:sp>
      <p:sp>
        <p:nvSpPr>
          <p:cNvPr id="11" name="Shape 8"/>
          <p:cNvSpPr/>
          <p:nvPr/>
        </p:nvSpPr>
        <p:spPr>
          <a:xfrm>
            <a:off x="713232" y="2025396"/>
            <a:ext cx="5303520" cy="4206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CF3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2" name="Shape 9"/>
          <p:cNvSpPr/>
          <p:nvPr/>
        </p:nvSpPr>
        <p:spPr>
          <a:xfrm>
            <a:off x="758952" y="2080260"/>
            <a:ext cx="475488" cy="310896"/>
          </a:xfrm>
          <a:prstGeom prst="roundRect">
            <a:avLst/>
          </a:prstGeom>
          <a:solidFill>
            <a:srgbClr val="74D221"/>
          </a:solidFill>
          <a:ln w="12700">
            <a:solidFill>
              <a:srgbClr val="1FB6C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3" name="Text 10"/>
          <p:cNvSpPr/>
          <p:nvPr/>
        </p:nvSpPr>
        <p:spPr>
          <a:xfrm>
            <a:off x="758952" y="2130552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371600" y="2107692"/>
            <a:ext cx="2240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233"/>
                </a:solidFill>
              </a:rPr>
              <a:t>Token Cache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1371600" y="2258568"/>
            <a:ext cx="22402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3657A"/>
                </a:solidFill>
              </a:rPr>
              <a:t>Cryptography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160520" y="2125980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74D221"/>
                </a:solidFill>
              </a:rPr>
              <a:t>Reverse</a:t>
            </a:r>
            <a:endParaRPr lang="en-US" sz="1400" dirty="0">
              <a:solidFill>
                <a:srgbClr val="74D221"/>
              </a:solidFill>
            </a:endParaRPr>
          </a:p>
        </p:txBody>
      </p:sp>
      <p:sp>
        <p:nvSpPr>
          <p:cNvPr id="17" name="Shape 14"/>
          <p:cNvSpPr/>
          <p:nvPr/>
        </p:nvSpPr>
        <p:spPr>
          <a:xfrm>
            <a:off x="713232" y="2608326"/>
            <a:ext cx="5303520" cy="4206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CF3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8" name="Shape 15"/>
          <p:cNvSpPr/>
          <p:nvPr/>
        </p:nvSpPr>
        <p:spPr>
          <a:xfrm>
            <a:off x="758952" y="2663190"/>
            <a:ext cx="475488" cy="310896"/>
          </a:xfrm>
          <a:prstGeom prst="roundRect">
            <a:avLst/>
          </a:prstGeom>
          <a:solidFill>
            <a:srgbClr val="EB311D"/>
          </a:solidFill>
          <a:ln w="12700">
            <a:solidFill>
              <a:srgbClr val="2EC27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9" name="Text 16"/>
          <p:cNvSpPr/>
          <p:nvPr/>
        </p:nvSpPr>
        <p:spPr>
          <a:xfrm>
            <a:off x="758952" y="2713482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1371600" y="2690622"/>
            <a:ext cx="2240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233"/>
                </a:solidFill>
              </a:rPr>
              <a:t>Password Vault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1371600" y="2841498"/>
            <a:ext cx="22402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3657A"/>
                </a:solidFill>
              </a:rPr>
              <a:t>Authentication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4160520" y="2708910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B311D"/>
                </a:solidFill>
              </a:rPr>
              <a:t>Atbash</a:t>
            </a:r>
            <a:endParaRPr lang="en-US" sz="1400" dirty="0">
              <a:solidFill>
                <a:srgbClr val="EB311D"/>
              </a:solidFill>
            </a:endParaRPr>
          </a:p>
        </p:txBody>
      </p:sp>
      <p:sp>
        <p:nvSpPr>
          <p:cNvPr id="23" name="Shape 20"/>
          <p:cNvSpPr/>
          <p:nvPr/>
        </p:nvSpPr>
        <p:spPr>
          <a:xfrm>
            <a:off x="713232" y="3264408"/>
            <a:ext cx="5303520" cy="4206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CF3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4" name="Shape 21"/>
          <p:cNvSpPr/>
          <p:nvPr/>
        </p:nvSpPr>
        <p:spPr>
          <a:xfrm>
            <a:off x="758952" y="3319272"/>
            <a:ext cx="475488" cy="310896"/>
          </a:xfrm>
          <a:prstGeom prst="roundRect">
            <a:avLst/>
          </a:prstGeom>
          <a:solidFill>
            <a:srgbClr val="35E3FB"/>
          </a:solidFill>
          <a:ln w="12700">
            <a:solidFill>
              <a:srgbClr val="2EC27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5" name="Text 22"/>
          <p:cNvSpPr/>
          <p:nvPr/>
        </p:nvSpPr>
        <p:spPr>
          <a:xfrm>
            <a:off x="758952" y="3369564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371600" y="3346704"/>
            <a:ext cx="2240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233"/>
                </a:solidFill>
              </a:rPr>
              <a:t>Identity Gate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1371600" y="3497580"/>
            <a:ext cx="22402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3657A"/>
                </a:solidFill>
              </a:rPr>
              <a:t>Authentication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4160520" y="3364992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35E3FB"/>
                </a:solidFill>
              </a:rPr>
              <a:t>Rail Fence</a:t>
            </a:r>
            <a:endParaRPr lang="en-US" sz="1400" dirty="0">
              <a:solidFill>
                <a:srgbClr val="35E3FB"/>
              </a:solidFill>
            </a:endParaRPr>
          </a:p>
        </p:txBody>
      </p:sp>
      <p:sp>
        <p:nvSpPr>
          <p:cNvPr id="29" name="Shape 26"/>
          <p:cNvSpPr/>
          <p:nvPr/>
        </p:nvSpPr>
        <p:spPr>
          <a:xfrm>
            <a:off x="713232" y="3913632"/>
            <a:ext cx="5303520" cy="4206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CF3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0" name="Shape 27"/>
          <p:cNvSpPr/>
          <p:nvPr/>
        </p:nvSpPr>
        <p:spPr>
          <a:xfrm>
            <a:off x="758952" y="3968496"/>
            <a:ext cx="475488" cy="310896"/>
          </a:xfrm>
          <a:prstGeom prst="roundRect">
            <a:avLst/>
          </a:prstGeom>
          <a:solidFill>
            <a:srgbClr val="F4B64D"/>
          </a:solidFill>
          <a:ln w="12700">
            <a:solidFill>
              <a:srgbClr val="F4B6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1" name="Text 28"/>
          <p:cNvSpPr/>
          <p:nvPr/>
        </p:nvSpPr>
        <p:spPr>
          <a:xfrm>
            <a:off x="758952" y="401878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1371600" y="3995928"/>
            <a:ext cx="2240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233"/>
                </a:solidFill>
              </a:rPr>
              <a:t>Payroll Gate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1371600" y="4146804"/>
            <a:ext cx="22402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3657A"/>
                </a:solidFill>
              </a:rPr>
              <a:t>Access Control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4160520" y="4014216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4B64D"/>
                </a:solidFill>
              </a:rPr>
              <a:t>Scytale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713232" y="4576572"/>
            <a:ext cx="5303520" cy="4206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CF3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6" name="Shape 33"/>
          <p:cNvSpPr/>
          <p:nvPr/>
        </p:nvSpPr>
        <p:spPr>
          <a:xfrm>
            <a:off x="758952" y="4631436"/>
            <a:ext cx="475488" cy="310896"/>
          </a:xfrm>
          <a:prstGeom prst="roundRect">
            <a:avLst/>
          </a:prstGeom>
          <a:solidFill>
            <a:srgbClr val="F41A4A"/>
          </a:solidFill>
          <a:ln w="12700">
            <a:solidFill>
              <a:srgbClr val="F4B6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7" name="Text 34"/>
          <p:cNvSpPr/>
          <p:nvPr/>
        </p:nvSpPr>
        <p:spPr>
          <a:xfrm>
            <a:off x="758952" y="468172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6</a:t>
            </a:r>
            <a:endParaRPr lang="en-US" sz="1600" dirty="0"/>
          </a:p>
        </p:txBody>
      </p:sp>
      <p:sp>
        <p:nvSpPr>
          <p:cNvPr id="38" name="Text 35"/>
          <p:cNvSpPr/>
          <p:nvPr/>
        </p:nvSpPr>
        <p:spPr>
          <a:xfrm>
            <a:off x="1371600" y="4658868"/>
            <a:ext cx="2240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233"/>
                </a:solidFill>
              </a:rPr>
              <a:t>Contractor Window</a:t>
            </a:r>
            <a:endParaRPr lang="en-US" sz="1600" dirty="0"/>
          </a:p>
        </p:txBody>
      </p:sp>
      <p:sp>
        <p:nvSpPr>
          <p:cNvPr id="39" name="Text 36"/>
          <p:cNvSpPr/>
          <p:nvPr/>
        </p:nvSpPr>
        <p:spPr>
          <a:xfrm>
            <a:off x="1371600" y="4809744"/>
            <a:ext cx="22402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3657A"/>
                </a:solidFill>
              </a:rPr>
              <a:t>Access Control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4160520" y="4677156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41A4A"/>
                </a:solidFill>
              </a:rPr>
              <a:t>Columnar Transposition</a:t>
            </a:r>
            <a:endParaRPr lang="en-US" sz="1400" dirty="0">
              <a:solidFill>
                <a:srgbClr val="F41A4A"/>
              </a:solidFill>
            </a:endParaRPr>
          </a:p>
        </p:txBody>
      </p:sp>
      <p:sp>
        <p:nvSpPr>
          <p:cNvPr id="4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13716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B8A9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45" name="Shape 32">
            <a:extLst>
              <a:ext uri="{FF2B5EF4-FFF2-40B4-BE49-F238E27FC236}">
                <a16:creationId xmlns:a16="http://schemas.microsoft.com/office/drawing/2014/main" id="{C23DCBC5-4DEA-4BBB-5415-710679B2CECF}"/>
              </a:ext>
            </a:extLst>
          </p:cNvPr>
          <p:cNvSpPr/>
          <p:nvPr/>
        </p:nvSpPr>
        <p:spPr>
          <a:xfrm>
            <a:off x="713232" y="5272318"/>
            <a:ext cx="5303520" cy="4206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CF3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46" name="Shape 33">
            <a:extLst>
              <a:ext uri="{FF2B5EF4-FFF2-40B4-BE49-F238E27FC236}">
                <a16:creationId xmlns:a16="http://schemas.microsoft.com/office/drawing/2014/main" id="{344C9B35-B18B-49F6-E438-6A49F9F56917}"/>
              </a:ext>
            </a:extLst>
          </p:cNvPr>
          <p:cNvSpPr/>
          <p:nvPr/>
        </p:nvSpPr>
        <p:spPr>
          <a:xfrm>
            <a:off x="758952" y="5327182"/>
            <a:ext cx="475488" cy="310896"/>
          </a:xfrm>
          <a:prstGeom prst="roundRect">
            <a:avLst/>
          </a:prstGeom>
          <a:solidFill>
            <a:schemeClr val="tx1"/>
          </a:solidFill>
          <a:ln w="12700">
            <a:solidFill>
              <a:srgbClr val="F4B6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47" name="Text 34">
            <a:extLst>
              <a:ext uri="{FF2B5EF4-FFF2-40B4-BE49-F238E27FC236}">
                <a16:creationId xmlns:a16="http://schemas.microsoft.com/office/drawing/2014/main" id="{04F62DE9-36ED-80A0-C366-40D8A06BCF2E}"/>
              </a:ext>
            </a:extLst>
          </p:cNvPr>
          <p:cNvSpPr/>
          <p:nvPr/>
        </p:nvSpPr>
        <p:spPr>
          <a:xfrm>
            <a:off x="758952" y="5377474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7</a:t>
            </a:r>
            <a:endParaRPr lang="en-US" sz="1600" dirty="0"/>
          </a:p>
        </p:txBody>
      </p:sp>
      <p:sp>
        <p:nvSpPr>
          <p:cNvPr id="48" name="Text 35">
            <a:extLst>
              <a:ext uri="{FF2B5EF4-FFF2-40B4-BE49-F238E27FC236}">
                <a16:creationId xmlns:a16="http://schemas.microsoft.com/office/drawing/2014/main" id="{03E93A16-50A0-8E32-E5C8-962E7BF3764F}"/>
              </a:ext>
            </a:extLst>
          </p:cNvPr>
          <p:cNvSpPr/>
          <p:nvPr/>
        </p:nvSpPr>
        <p:spPr>
          <a:xfrm>
            <a:off x="1371600" y="5354614"/>
            <a:ext cx="2240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233"/>
                </a:solidFill>
              </a:rPr>
              <a:t>Secret</a:t>
            </a:r>
            <a:endParaRPr lang="en-US" sz="1600" dirty="0"/>
          </a:p>
        </p:txBody>
      </p:sp>
      <p:sp>
        <p:nvSpPr>
          <p:cNvPr id="49" name="Text 36">
            <a:extLst>
              <a:ext uri="{FF2B5EF4-FFF2-40B4-BE49-F238E27FC236}">
                <a16:creationId xmlns:a16="http://schemas.microsoft.com/office/drawing/2014/main" id="{08E61F1D-E366-B494-D23E-CA4A6532F0A5}"/>
              </a:ext>
            </a:extLst>
          </p:cNvPr>
          <p:cNvSpPr/>
          <p:nvPr/>
        </p:nvSpPr>
        <p:spPr>
          <a:xfrm>
            <a:off x="1371600" y="5505490"/>
            <a:ext cx="22402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3657A"/>
                </a:solidFill>
              </a:rPr>
              <a:t>????</a:t>
            </a:r>
            <a:endParaRPr lang="en-US" sz="1000" dirty="0"/>
          </a:p>
        </p:txBody>
      </p:sp>
      <p:sp>
        <p:nvSpPr>
          <p:cNvPr id="50" name="Text 37">
            <a:extLst>
              <a:ext uri="{FF2B5EF4-FFF2-40B4-BE49-F238E27FC236}">
                <a16:creationId xmlns:a16="http://schemas.microsoft.com/office/drawing/2014/main" id="{13855DE7-551A-DC24-371A-C6C070BF238B}"/>
              </a:ext>
            </a:extLst>
          </p:cNvPr>
          <p:cNvSpPr/>
          <p:nvPr/>
        </p:nvSpPr>
        <p:spPr>
          <a:xfrm>
            <a:off x="4160520" y="5372902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/>
              <a:t>Classified</a:t>
            </a:r>
            <a:endParaRPr lang="en-US" sz="1400" dirty="0"/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6204AE3E-58D2-584A-8646-CF97A16746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6342" y="3364992"/>
            <a:ext cx="4546538" cy="2906394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" y="436068"/>
            <a:ext cx="6583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22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Systems that create pressure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49808" y="1920240"/>
            <a:ext cx="1600200" cy="0"/>
          </a:xfrm>
          <a:prstGeom prst="line">
            <a:avLst/>
          </a:prstGeom>
          <a:noFill/>
          <a:ln w="12700">
            <a:solidFill>
              <a:srgbClr val="E955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49808" y="2084832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233"/>
                </a:solidFill>
              </a:rPr>
              <a:t>Daemons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49808" y="2395728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/>
              <a:t>Patrol, detect, chase the player.</a:t>
            </a:r>
          </a:p>
        </p:txBody>
      </p:sp>
      <p:sp>
        <p:nvSpPr>
          <p:cNvPr id="7" name="Shape 5"/>
          <p:cNvSpPr/>
          <p:nvPr/>
        </p:nvSpPr>
        <p:spPr>
          <a:xfrm>
            <a:off x="3063240" y="1920240"/>
            <a:ext cx="1600200" cy="0"/>
          </a:xfrm>
          <a:prstGeom prst="line">
            <a:avLst/>
          </a:prstGeom>
          <a:noFill/>
          <a:ln w="12700">
            <a:solidFill>
              <a:srgbClr val="00C7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063240" y="2084832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233"/>
                </a:solidFill>
              </a:rPr>
              <a:t>Battles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063240" y="2395728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/>
              <a:t>Daemon catches player → cipher opens.</a:t>
            </a:r>
          </a:p>
        </p:txBody>
      </p:sp>
      <p:sp>
        <p:nvSpPr>
          <p:cNvPr id="10" name="Shape 8"/>
          <p:cNvSpPr/>
          <p:nvPr/>
        </p:nvSpPr>
        <p:spPr>
          <a:xfrm>
            <a:off x="5376672" y="1920240"/>
            <a:ext cx="1600200" cy="0"/>
          </a:xfrm>
          <a:prstGeom prst="line">
            <a:avLst/>
          </a:prstGeom>
          <a:noFill/>
          <a:ln w="12700">
            <a:solidFill>
              <a:srgbClr val="F4B6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376672" y="2084832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233"/>
                </a:solidFill>
              </a:rPr>
              <a:t>Health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376672" y="2395728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/>
              <a:t>Wrong answers, hints, timer all drain HP.</a:t>
            </a:r>
          </a:p>
        </p:txBody>
      </p:sp>
      <p:sp>
        <p:nvSpPr>
          <p:cNvPr id="13" name="Shape 11"/>
          <p:cNvSpPr/>
          <p:nvPr/>
        </p:nvSpPr>
        <p:spPr>
          <a:xfrm>
            <a:off x="7690104" y="1920240"/>
            <a:ext cx="1600200" cy="0"/>
          </a:xfrm>
          <a:prstGeom prst="line">
            <a:avLst/>
          </a:prstGeom>
          <a:noFill/>
          <a:ln w="12700">
            <a:solidFill>
              <a:srgbClr val="2EC2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690104" y="2084832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233"/>
                </a:solidFill>
              </a:rPr>
              <a:t>Progress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690104" y="2395728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/>
              <a:t>Key first, then exit. Always.</a:t>
            </a:r>
          </a:p>
        </p:txBody>
      </p:sp>
      <p:sp>
        <p:nvSpPr>
          <p:cNvPr id="16" name="Shape 14"/>
          <p:cNvSpPr/>
          <p:nvPr/>
        </p:nvSpPr>
        <p:spPr>
          <a:xfrm>
            <a:off x="10003536" y="1920240"/>
            <a:ext cx="1600200" cy="0"/>
          </a:xfrm>
          <a:prstGeom prst="line">
            <a:avLst/>
          </a:prstGeom>
          <a:noFill/>
          <a:ln w="12700">
            <a:solidFill>
              <a:srgbClr val="7B61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0003536" y="2084832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233"/>
                </a:solidFill>
              </a:rPr>
              <a:t>Mobile HUD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003536" y="2395728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/>
              <a:t>Controls were adjusted so buttons do not cover play.</a:t>
            </a:r>
          </a:p>
        </p:txBody>
      </p:sp>
      <p:sp>
        <p:nvSpPr>
          <p:cNvPr id="19" name="Shape 17"/>
          <p:cNvSpPr/>
          <p:nvPr/>
        </p:nvSpPr>
        <p:spPr>
          <a:xfrm>
            <a:off x="749808" y="4146443"/>
            <a:ext cx="10561320" cy="158263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8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005840" y="4343400"/>
            <a:ext cx="4042410" cy="525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F2233"/>
                </a:solidFill>
              </a:rPr>
              <a:t>Balancing values constants in game.js</a:t>
            </a: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012658" y="4838560"/>
            <a:ext cx="10166683" cy="7920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36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hero hp = 100   |   battle time = 17   |   medkit heal = 5   |   wrong answer damage = 5   |   hint damage = 2   |   room daemons = [2,2,3,3,4,4]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B8A9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11480"/>
            <a:ext cx="6583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22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Implementation architecture</a:t>
            </a:r>
            <a:endParaRPr lang="en-US" sz="2400" dirty="0"/>
          </a:p>
        </p:txBody>
      </p:sp>
      <p:pic>
        <p:nvPicPr>
          <p:cNvPr id="4" name="Image 0" descr="/mnt/data/a_clean_flat_3d_style_infographic_diagram_on_a_whi_batch_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5792" y="411480"/>
            <a:ext cx="5486400" cy="3087741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6" name="Text 3"/>
          <p:cNvSpPr/>
          <p:nvPr/>
        </p:nvSpPr>
        <p:spPr>
          <a:xfrm>
            <a:off x="749808" y="3172968"/>
            <a:ext cx="4663440" cy="1112705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latin typeface="Aptos" pitchFamily="34" charset="0"/>
                <a:ea typeface="Aptos" pitchFamily="34" charset="-122"/>
                <a:cs typeface="Aptos" pitchFamily="34" charset="-120"/>
              </a:rPr>
              <a:t>index.html - screens, HUD, overlays, menus.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latin typeface="Aptos" pitchFamily="34" charset="0"/>
                <a:ea typeface="Aptos" pitchFamily="34" charset="-122"/>
                <a:cs typeface="Aptos" pitchFamily="34" charset="-120"/>
              </a:rPr>
              <a:t>styles.css - layout, style, mobile rules.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latin typeface="Aptos" pitchFamily="34" charset="0"/>
                <a:ea typeface="Aptos" pitchFamily="34" charset="-122"/>
                <a:cs typeface="Aptos" pitchFamily="34" charset="-120"/>
              </a:rPr>
              <a:t>game.js - all logic and game state.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latin typeface="Aptos" pitchFamily="34" charset="0"/>
                <a:ea typeface="Aptos" pitchFamily="34" charset="-122"/>
                <a:cs typeface="Aptos" pitchFamily="34" charset="-120"/>
              </a:rPr>
              <a:t>manifest + sw.js - PWA install ability.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7710321" y="5753793"/>
            <a:ext cx="21620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233"/>
                </a:solidFill>
              </a:rPr>
              <a:t>GitHub language split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13716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B8A9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  <p:graphicFrame>
        <p:nvGraphicFramePr>
          <p:cNvPr id="18" name="Chart 17">
            <a:extLst>
              <a:ext uri="{FF2B5EF4-FFF2-40B4-BE49-F238E27FC236}">
                <a16:creationId xmlns:a16="http://schemas.microsoft.com/office/drawing/2014/main" id="{0BAF693D-D29E-79DB-47D0-5ACCC1D1CEA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06843705"/>
              </p:ext>
            </p:extLst>
          </p:nvPr>
        </p:nvGraphicFramePr>
        <p:xfrm>
          <a:off x="6582987" y="3356752"/>
          <a:ext cx="4232009" cy="239704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54E9C65D-8A86-623E-34B9-F45D32849A85}"/>
              </a:ext>
            </a:extLst>
          </p:cNvPr>
          <p:cNvCxnSpPr>
            <a:cxnSpLocks/>
          </p:cNvCxnSpPr>
          <p:nvPr/>
        </p:nvCxnSpPr>
        <p:spPr>
          <a:xfrm>
            <a:off x="0" y="915047"/>
            <a:ext cx="4553527" cy="0"/>
          </a:xfrm>
          <a:prstGeom prst="line">
            <a:avLst/>
          </a:prstGeom>
          <a:ln w="762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Text 2"/>
          <p:cNvSpPr/>
          <p:nvPr/>
        </p:nvSpPr>
        <p:spPr>
          <a:xfrm>
            <a:off x="749808" y="292543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2233"/>
                </a:solidFill>
              </a:rPr>
              <a:t>Main files: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13716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B8A9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  <p:sp>
        <p:nvSpPr>
          <p:cNvPr id="26" name="Text 3">
            <a:extLst>
              <a:ext uri="{FF2B5EF4-FFF2-40B4-BE49-F238E27FC236}">
                <a16:creationId xmlns:a16="http://schemas.microsoft.com/office/drawing/2014/main" id="{D5341E98-A4C9-8722-BA3E-E4E20EF3ADF6}"/>
              </a:ext>
            </a:extLst>
          </p:cNvPr>
          <p:cNvSpPr/>
          <p:nvPr/>
        </p:nvSpPr>
        <p:spPr>
          <a:xfrm>
            <a:off x="713232" y="484632"/>
            <a:ext cx="571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E22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Conclusion</a:t>
            </a:r>
            <a:endParaRPr lang="en-US" sz="2800" dirty="0"/>
          </a:p>
        </p:txBody>
      </p:sp>
      <p:sp>
        <p:nvSpPr>
          <p:cNvPr id="28" name="Shape 5">
            <a:extLst>
              <a:ext uri="{FF2B5EF4-FFF2-40B4-BE49-F238E27FC236}">
                <a16:creationId xmlns:a16="http://schemas.microsoft.com/office/drawing/2014/main" id="{0EC1BDD6-CFBD-0FEA-BE9E-7E06E5B8C979}"/>
              </a:ext>
            </a:extLst>
          </p:cNvPr>
          <p:cNvSpPr/>
          <p:nvPr/>
        </p:nvSpPr>
        <p:spPr>
          <a:xfrm>
            <a:off x="713232" y="1545336"/>
            <a:ext cx="4983480" cy="3429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  <a:effectLst>
            <a:outerShdw blurRad="12700" dist="50800" dir="2700000" algn="bl" rotWithShape="0">
              <a:srgbClr val="CFDDE5">
                <a:alpha val="18000"/>
              </a:srgbClr>
            </a:outerShdw>
          </a:effectLst>
        </p:spPr>
        <p:txBody>
          <a:bodyPr/>
          <a:lstStyle/>
          <a:p>
            <a:endParaRPr lang="en-US" sz="2800"/>
          </a:p>
        </p:txBody>
      </p:sp>
      <p:sp>
        <p:nvSpPr>
          <p:cNvPr id="29" name="Text 6">
            <a:extLst>
              <a:ext uri="{FF2B5EF4-FFF2-40B4-BE49-F238E27FC236}">
                <a16:creationId xmlns:a16="http://schemas.microsoft.com/office/drawing/2014/main" id="{85E823BE-86E5-772B-BE28-5325DF351029}"/>
              </a:ext>
            </a:extLst>
          </p:cNvPr>
          <p:cNvSpPr/>
          <p:nvPr/>
        </p:nvSpPr>
        <p:spPr>
          <a:xfrm>
            <a:off x="978408" y="1856232"/>
            <a:ext cx="1828800" cy="189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CFE8"/>
                </a:solidFill>
              </a:rPr>
              <a:t>PROJECT RESULT</a:t>
            </a:r>
            <a:endParaRPr lang="en-US" sz="1600" dirty="0"/>
          </a:p>
        </p:txBody>
      </p:sp>
      <p:sp>
        <p:nvSpPr>
          <p:cNvPr id="30" name="Text 7">
            <a:extLst>
              <a:ext uri="{FF2B5EF4-FFF2-40B4-BE49-F238E27FC236}">
                <a16:creationId xmlns:a16="http://schemas.microsoft.com/office/drawing/2014/main" id="{AD55BBB0-F2D4-C9ED-6728-2D017D43F8B7}"/>
              </a:ext>
            </a:extLst>
          </p:cNvPr>
          <p:cNvSpPr/>
          <p:nvPr/>
        </p:nvSpPr>
        <p:spPr>
          <a:xfrm>
            <a:off x="978408" y="1950800"/>
            <a:ext cx="4315968" cy="1554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E2230"/>
                </a:solidFill>
              </a:rPr>
              <a:t>Single-page browser game, desktop + mobile.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E2230"/>
                </a:solidFill>
              </a:rPr>
              <a:t>Six rooms plus one hidden final room.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E2230"/>
                </a:solidFill>
              </a:rPr>
              <a:t>Security concepts taught through gameplay.</a:t>
            </a:r>
            <a:endParaRPr lang="en-US" sz="1400" dirty="0"/>
          </a:p>
        </p:txBody>
      </p:sp>
      <p:sp>
        <p:nvSpPr>
          <p:cNvPr id="34" name="Shape 11">
            <a:extLst>
              <a:ext uri="{FF2B5EF4-FFF2-40B4-BE49-F238E27FC236}">
                <a16:creationId xmlns:a16="http://schemas.microsoft.com/office/drawing/2014/main" id="{D2A22A04-8E5F-E0D5-3320-478D27654BB2}"/>
              </a:ext>
            </a:extLst>
          </p:cNvPr>
          <p:cNvSpPr/>
          <p:nvPr/>
        </p:nvSpPr>
        <p:spPr>
          <a:xfrm>
            <a:off x="6495288" y="1545336"/>
            <a:ext cx="4983480" cy="3429000"/>
          </a:xfrm>
          <a:prstGeom prst="roundRect">
            <a:avLst>
              <a:gd name="adj" fmla="val 2074"/>
            </a:avLst>
          </a:prstGeom>
          <a:solidFill>
            <a:srgbClr val="FFFFFF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  <a:effectLst>
            <a:outerShdw blurRad="12700" dist="50800" dir="2700000" algn="bl" rotWithShape="0">
              <a:srgbClr val="CFDDE5">
                <a:alpha val="18000"/>
              </a:srgbClr>
            </a:outerShdw>
          </a:effectLst>
        </p:spPr>
        <p:txBody>
          <a:bodyPr/>
          <a:lstStyle/>
          <a:p>
            <a:endParaRPr lang="en-US" sz="2800"/>
          </a:p>
        </p:txBody>
      </p:sp>
      <p:sp>
        <p:nvSpPr>
          <p:cNvPr id="35" name="Text 12">
            <a:extLst>
              <a:ext uri="{FF2B5EF4-FFF2-40B4-BE49-F238E27FC236}">
                <a16:creationId xmlns:a16="http://schemas.microsoft.com/office/drawing/2014/main" id="{975B8698-975E-38F5-5F33-FCFC9207BD5C}"/>
              </a:ext>
            </a:extLst>
          </p:cNvPr>
          <p:cNvSpPr/>
          <p:nvPr/>
        </p:nvSpPr>
        <p:spPr>
          <a:xfrm>
            <a:off x="6778752" y="1807624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CFE8"/>
                </a:solidFill>
              </a:rPr>
              <a:t>FINAL TAKEAWAY</a:t>
            </a:r>
            <a:endParaRPr lang="en-US" sz="1600" dirty="0"/>
          </a:p>
        </p:txBody>
      </p:sp>
      <p:sp>
        <p:nvSpPr>
          <p:cNvPr id="36" name="Text 13">
            <a:extLst>
              <a:ext uri="{FF2B5EF4-FFF2-40B4-BE49-F238E27FC236}">
                <a16:creationId xmlns:a16="http://schemas.microsoft.com/office/drawing/2014/main" id="{5045F436-8BBF-F4A1-5240-A0B71A6C425C}"/>
              </a:ext>
            </a:extLst>
          </p:cNvPr>
          <p:cNvSpPr/>
          <p:nvPr/>
        </p:nvSpPr>
        <p:spPr>
          <a:xfrm>
            <a:off x="6778752" y="2061972"/>
            <a:ext cx="4297680" cy="9098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Autofit/>
          </a:bodyPr>
          <a:lstStyle/>
          <a:p>
            <a:r>
              <a:rPr lang="en-US" sz="1400" dirty="0">
                <a:solidFill>
                  <a:srgbClr val="0E2230"/>
                </a:solidFill>
              </a:rPr>
              <a:t>Fully deployed, desktop and mobile ready.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4AB1C4-51B7-03C0-CEA5-C52EFA15D1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14DB9AA-9358-FA6B-9F10-4E4872821C65}"/>
              </a:ext>
            </a:extLst>
          </p:cNvPr>
          <p:cNvSpPr/>
          <p:nvPr/>
        </p:nvSpPr>
        <p:spPr>
          <a:xfrm>
            <a:off x="-1" y="320040"/>
            <a:ext cx="4785643" cy="1560945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Shape 11">
            <a:extLst>
              <a:ext uri="{FF2B5EF4-FFF2-40B4-BE49-F238E27FC236}">
                <a16:creationId xmlns:a16="http://schemas.microsoft.com/office/drawing/2014/main" id="{68BC8555-E39F-C7B3-9BD1-7AD69B7292A6}"/>
              </a:ext>
            </a:extLst>
          </p:cNvPr>
          <p:cNvSpPr/>
          <p:nvPr/>
        </p:nvSpPr>
        <p:spPr>
          <a:xfrm>
            <a:off x="3604260" y="896473"/>
            <a:ext cx="4983480" cy="520353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BEEAF2"/>
            </a:solidFill>
            <a:prstDash val="solid"/>
          </a:ln>
          <a:effectLst>
            <a:outerShdw blurRad="12700" dist="50800" dir="2700000" algn="bl" rotWithShape="0">
              <a:srgbClr val="CFDDE5">
                <a:alpha val="18000"/>
              </a:srgbClr>
            </a:outerShdw>
          </a:effectLst>
        </p:spPr>
        <p:txBody>
          <a:bodyPr/>
          <a:lstStyle/>
          <a:p>
            <a:endParaRPr lang="en-US" sz="280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B613C30A-6FBC-F8A2-811E-DAA1D26C90C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12880" y="13716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B8A9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 dirty="0"/>
          </a:p>
        </p:txBody>
      </p:sp>
      <p:sp>
        <p:nvSpPr>
          <p:cNvPr id="37" name="Text 14">
            <a:extLst>
              <a:ext uri="{FF2B5EF4-FFF2-40B4-BE49-F238E27FC236}">
                <a16:creationId xmlns:a16="http://schemas.microsoft.com/office/drawing/2014/main" id="{8077EBD2-029E-C8CD-1F6E-B59BE554F0DD}"/>
              </a:ext>
            </a:extLst>
          </p:cNvPr>
          <p:cNvSpPr/>
          <p:nvPr/>
        </p:nvSpPr>
        <p:spPr>
          <a:xfrm>
            <a:off x="5063891" y="1258864"/>
            <a:ext cx="2064218" cy="10034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E2230"/>
                </a:solidFill>
              </a:rPr>
              <a:t>Thank You.</a:t>
            </a:r>
          </a:p>
          <a:p>
            <a:pPr marL="0" indent="0" algn="ctr">
              <a:buNone/>
            </a:pPr>
            <a:endParaRPr lang="en-US" sz="2400" b="1" dirty="0">
              <a:solidFill>
                <a:srgbClr val="0E2230"/>
              </a:solidFill>
            </a:endParaRPr>
          </a:p>
          <a:p>
            <a:pPr marL="0" indent="0" algn="ctr">
              <a:buNone/>
            </a:pPr>
            <a:r>
              <a:rPr lang="en-US" sz="2400" b="1" dirty="0">
                <a:solidFill>
                  <a:srgbClr val="0E2230"/>
                </a:solidFill>
              </a:rPr>
              <a:t>Questions?</a:t>
            </a:r>
            <a:endParaRPr lang="en-US" sz="24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C58145-4EAE-240F-7200-556D47B3A3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5643" y="2709223"/>
            <a:ext cx="2620713" cy="262071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B491DD1-9B6E-4FE9-6C1E-C362FC2C9C85}"/>
              </a:ext>
            </a:extLst>
          </p:cNvPr>
          <p:cNvSpPr txBox="1"/>
          <p:nvPr/>
        </p:nvSpPr>
        <p:spPr>
          <a:xfrm>
            <a:off x="3044490" y="5414470"/>
            <a:ext cx="61030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Aft>
                <a:spcPts val="800"/>
              </a:spcAft>
              <a:buNone/>
            </a:pPr>
            <a:r>
              <a:rPr lang="en-US" sz="1800" b="1" i="1" dirty="0">
                <a:solidFill>
                  <a:srgbClr val="4B5563"/>
                </a:solidFill>
                <a:effectLst/>
                <a:latin typeface="Cambria" panose="02040503050406030204" pitchFamily="18" charset="0"/>
                <a:ea typeface="Calibri" panose="020F0502020204030204" pitchFamily="34" charset="0"/>
                <a:cs typeface="Arial" panose="020B0604020202020204" pitchFamily="34" charset="0"/>
              </a:rPr>
              <a:t>Try The Game!</a:t>
            </a:r>
            <a:endParaRPr lang="en-US" sz="1800" b="1" i="1" dirty="0">
              <a:solidFill>
                <a:srgbClr val="4B5563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12075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</TotalTime>
  <Words>433</Words>
  <Application>Microsoft Office PowerPoint</Application>
  <PresentationFormat>Widescreen</PresentationFormat>
  <Paragraphs>126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Aptos</vt:lpstr>
      <vt:lpstr>Aptos Display</vt:lpstr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CIPHER.BREACH</dc:title>
  <dc:subject>Cipher Breach project presentation</dc:subject>
  <dc:creator>OpenAI</dc:creator>
  <cp:lastModifiedBy>Bashar Farhat</cp:lastModifiedBy>
  <cp:revision>9</cp:revision>
  <dcterms:created xsi:type="dcterms:W3CDTF">2026-04-29T18:24:47Z</dcterms:created>
  <dcterms:modified xsi:type="dcterms:W3CDTF">2026-05-01T19:26:15Z</dcterms:modified>
</cp:coreProperties>
</file>